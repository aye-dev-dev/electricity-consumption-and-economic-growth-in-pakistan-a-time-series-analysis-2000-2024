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3" r:id="rId8"/>
    <p:sldId id="264" r:id="rId9"/>
    <p:sldId id="265" r:id="rId10"/>
    <p:sldId id="261" r:id="rId11"/>
    <p:sldId id="267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225BC-E760-4D4A-ABA5-520FF4D72F6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6AB45-9BF3-4473-8561-664D212DE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236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225BC-E760-4D4A-ABA5-520FF4D72F6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6AB45-9BF3-4473-8561-664D212DE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949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225BC-E760-4D4A-ABA5-520FF4D72F6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6AB45-9BF3-4473-8561-664D212DE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49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225BC-E760-4D4A-ABA5-520FF4D72F6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6AB45-9BF3-4473-8561-664D212DE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31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225BC-E760-4D4A-ABA5-520FF4D72F6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6AB45-9BF3-4473-8561-664D212DE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039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225BC-E760-4D4A-ABA5-520FF4D72F6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6AB45-9BF3-4473-8561-664D212DE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01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225BC-E760-4D4A-ABA5-520FF4D72F6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6AB45-9BF3-4473-8561-664D212DE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791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225BC-E760-4D4A-ABA5-520FF4D72F6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6AB45-9BF3-4473-8561-664D212DE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993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225BC-E760-4D4A-ABA5-520FF4D72F6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6AB45-9BF3-4473-8561-664D212DE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861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225BC-E760-4D4A-ABA5-520FF4D72F6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6AB45-9BF3-4473-8561-664D212DE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840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225BC-E760-4D4A-ABA5-520FF4D72F6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6AB45-9BF3-4473-8561-664D212DE9A0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43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225BC-E760-4D4A-ABA5-520FF4D72F6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6AB45-9BF3-4473-8561-664D212DE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546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225BC-E760-4D4A-ABA5-520FF4D72F6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6AB45-9BF3-4473-8561-664D212DE9A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58112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225BC-E760-4D4A-ABA5-520FF4D72F6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6AB45-9BF3-4473-8561-664D212DE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3726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225BC-E760-4D4A-ABA5-520FF4D72F6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6AB45-9BF3-4473-8561-664D212DE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8476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225BC-E760-4D4A-ABA5-520FF4D72F6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6AB45-9BF3-4473-8561-664D212DE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742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225BC-E760-4D4A-ABA5-520FF4D72F6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6E6AB45-9BF3-4473-8561-664D212DE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4931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5176" y="2679232"/>
            <a:ext cx="7661871" cy="1504605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How Electricity Fuels Pakistan’s Economic Growth: 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eries Analysis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5176" y="4183837"/>
            <a:ext cx="7766936" cy="1096899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 Ayesha Ashraf and Muhammad Abdullah</a:t>
            </a:r>
            <a:endParaRPr lang="en-US" sz="2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708" y="1363519"/>
            <a:ext cx="1563274" cy="14732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07861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9477" y="466944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39848" y="1473444"/>
            <a:ext cx="8312960" cy="5124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Electricity is a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fundamental driver of economic growth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powering industries, households, and innovation.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Pakistan, electricity consumption reflects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industrialization, infrastructure expansion, and development progress.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electricity–growth nexus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debated: does electricity drive growth, or does growth drive electricity demand?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0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study uses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time‑series data (2000–2024)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within a Cobb‑Douglas framework to examine the relationship.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findings contribute to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energy policy and sustainable development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guiding investment and planning decisions.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566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218" y="692728"/>
            <a:ext cx="8596668" cy="1320800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 and hypothesis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77334" y="2160589"/>
            <a:ext cx="8275473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electricity consumption drive economic growth, or does economic growth drive electricity consumption?</a:t>
            </a:r>
          </a:p>
          <a:p>
            <a:pPr marL="0" indent="0">
              <a:buNone/>
            </a:pPr>
            <a:endParaRPr lang="en-US" sz="2000" b="1" dirty="0" smtClean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Hypotheses</a:t>
            </a: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H0: Electricity consumption positively affects GDP growth.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H1: GDP growth positively affects electricity consumption</a:t>
            </a:r>
          </a:p>
        </p:txBody>
      </p:sp>
    </p:spTree>
    <p:extLst>
      <p:ext uri="{BB962C8B-B14F-4D97-AF65-F5344CB8AC3E}">
        <p14:creationId xmlns:p14="http://schemas.microsoft.com/office/powerpoint/2010/main" val="3175142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and conceptual framework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137" y="2160589"/>
            <a:ext cx="10015961" cy="3982516"/>
          </a:xfrm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 err="1" smtClean="0">
                <a:solidFill>
                  <a:schemeClr val="accent1"/>
                </a:solidFill>
                <a:latin typeface="Century Schoolbook" panose="02040604050505020304" pitchFamily="18" charset="0"/>
                <a:ea typeface="Century Schoolbook" panose="02040604050505020304" pitchFamily="18" charset="0"/>
                <a:cs typeface="Times New Roman" panose="02020603050405020304" pitchFamily="18" charset="0"/>
              </a:rPr>
              <a:t>GDP_Grwth</a:t>
            </a:r>
            <a:r>
              <a:rPr lang="en-US" sz="2000" kern="1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Century Schoolbook" panose="02040604050505020304" pitchFamily="18" charset="0"/>
                <a:cs typeface="Times New Roman" panose="02020603050405020304" pitchFamily="18" charset="0"/>
              </a:rPr>
              <a:t>​(t)</a:t>
            </a:r>
            <a:r>
              <a:rPr lang="en-US" sz="2000" kern="100" dirty="0" smtClean="0">
                <a:solidFill>
                  <a:schemeClr val="accent1"/>
                </a:solidFill>
                <a:latin typeface="Century Schoolbook" panose="02040604050505020304" pitchFamily="18" charset="0"/>
                <a:ea typeface="Century Schoolbook" panose="02040604050505020304" pitchFamily="18" charset="0"/>
                <a:cs typeface="Times New Roman" panose="02020603050405020304" pitchFamily="18" charset="0"/>
              </a:rPr>
              <a:t>=β0</a:t>
            </a:r>
            <a:r>
              <a:rPr lang="en-US" sz="2000" kern="100" dirty="0">
                <a:solidFill>
                  <a:schemeClr val="accent1"/>
                </a:solidFill>
                <a:latin typeface="Times New Roman" panose="02020603050405020304" pitchFamily="18" charset="0"/>
                <a:ea typeface="Century Schoolbook" panose="02040604050505020304" pitchFamily="18" charset="0"/>
                <a:cs typeface="Times New Roman" panose="02020603050405020304" pitchFamily="18" charset="0"/>
              </a:rPr>
              <a:t>​</a:t>
            </a:r>
            <a:r>
              <a:rPr lang="en-US" sz="2000" kern="100" dirty="0">
                <a:solidFill>
                  <a:schemeClr val="accent1"/>
                </a:solidFill>
                <a:latin typeface="Century Schoolbook" panose="02040604050505020304" pitchFamily="18" charset="0"/>
                <a:ea typeface="Century Schoolbook" panose="02040604050505020304" pitchFamily="18" charset="0"/>
                <a:cs typeface="Times New Roman" panose="02020603050405020304" pitchFamily="18" charset="0"/>
              </a:rPr>
              <a:t>+β1</a:t>
            </a:r>
            <a:r>
              <a:rPr lang="en-US" sz="2000" kern="100" dirty="0">
                <a:solidFill>
                  <a:schemeClr val="accent1"/>
                </a:solidFill>
                <a:latin typeface="Times New Roman" panose="02020603050405020304" pitchFamily="18" charset="0"/>
                <a:ea typeface="Century Schoolbook" panose="02040604050505020304" pitchFamily="18" charset="0"/>
                <a:cs typeface="Times New Roman" panose="02020603050405020304" pitchFamily="18" charset="0"/>
              </a:rPr>
              <a:t>​</a:t>
            </a:r>
            <a:r>
              <a:rPr lang="en-US" sz="2000" kern="100" dirty="0">
                <a:solidFill>
                  <a:schemeClr val="accent1"/>
                </a:solidFill>
                <a:latin typeface="Century Schoolbook" panose="02040604050505020304" pitchFamily="18" charset="0"/>
                <a:ea typeface="Century Schoolbook" panose="02040604050505020304" pitchFamily="18" charset="0"/>
                <a:cs typeface="Times New Roman" panose="02020603050405020304" pitchFamily="18" charset="0"/>
              </a:rPr>
              <a:t>ln(</a:t>
            </a:r>
            <a:r>
              <a:rPr lang="en-US" sz="2000" kern="100" dirty="0" err="1">
                <a:solidFill>
                  <a:schemeClr val="accent1"/>
                </a:solidFill>
                <a:latin typeface="Century Schoolbook" panose="02040604050505020304" pitchFamily="18" charset="0"/>
                <a:ea typeface="Century Schoolbook" panose="02040604050505020304" pitchFamily="18" charset="0"/>
                <a:cs typeface="Times New Roman" panose="02020603050405020304" pitchFamily="18" charset="0"/>
              </a:rPr>
              <a:t>Electricity_t</a:t>
            </a:r>
            <a:r>
              <a:rPr lang="en-US" sz="2000" kern="100" dirty="0">
                <a:solidFill>
                  <a:schemeClr val="accent1"/>
                </a:solidFill>
                <a:latin typeface="Century Schoolbook" panose="02040604050505020304" pitchFamily="18" charset="0"/>
                <a:ea typeface="Century Schoolbook" panose="02040604050505020304" pitchFamily="18" charset="0"/>
                <a:cs typeface="Times New Roman" panose="02020603050405020304" pitchFamily="18" charset="0"/>
              </a:rPr>
              <a:t>)+β2</a:t>
            </a:r>
            <a:r>
              <a:rPr lang="en-US" sz="2000" kern="1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Century Schoolbook" panose="02040604050505020304" pitchFamily="18" charset="0"/>
                <a:cs typeface="Times New Roman" panose="02020603050405020304" pitchFamily="18" charset="0"/>
              </a:rPr>
              <a:t>​</a:t>
            </a:r>
            <a:r>
              <a:rPr lang="en-US" sz="2000" kern="100" dirty="0" smtClean="0">
                <a:solidFill>
                  <a:schemeClr val="accent1"/>
                </a:solidFill>
                <a:latin typeface="Century Schoolbook" panose="02040604050505020304" pitchFamily="18" charset="0"/>
                <a:ea typeface="Century Schoolbook" panose="020406040505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kern="100" dirty="0" err="1" smtClean="0">
                <a:solidFill>
                  <a:schemeClr val="accent1"/>
                </a:solidFill>
                <a:latin typeface="Century Schoolbook" panose="02040604050505020304" pitchFamily="18" charset="0"/>
                <a:ea typeface="Century Schoolbook" panose="02040604050505020304" pitchFamily="18" charset="0"/>
                <a:cs typeface="Times New Roman" panose="02020603050405020304" pitchFamily="18" charset="0"/>
              </a:rPr>
              <a:t>Inflationt</a:t>
            </a:r>
            <a:r>
              <a:rPr lang="en-US" sz="2000" kern="1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Century Schoolbook" panose="02040604050505020304" pitchFamily="18" charset="0"/>
                <a:cs typeface="Times New Roman" panose="02020603050405020304" pitchFamily="18" charset="0"/>
              </a:rPr>
              <a:t>​)</a:t>
            </a:r>
            <a:r>
              <a:rPr lang="en-US" sz="2000" kern="100" dirty="0" smtClean="0">
                <a:solidFill>
                  <a:schemeClr val="accent1"/>
                </a:solidFill>
                <a:latin typeface="Century Schoolbook" panose="02040604050505020304" pitchFamily="18" charset="0"/>
                <a:ea typeface="Century Schoolbook" panose="02040604050505020304" pitchFamily="18" charset="0"/>
                <a:cs typeface="Times New Roman" panose="02020603050405020304" pitchFamily="18" charset="0"/>
              </a:rPr>
              <a:t>+</a:t>
            </a:r>
            <a:r>
              <a:rPr lang="en-US" sz="2000" kern="100" dirty="0">
                <a:solidFill>
                  <a:schemeClr val="accent1"/>
                </a:solidFill>
                <a:latin typeface="Century Schoolbook" panose="02040604050505020304" pitchFamily="18" charset="0"/>
                <a:ea typeface="Century Schoolbook" panose="02040604050505020304" pitchFamily="18" charset="0"/>
                <a:cs typeface="Times New Roman" panose="02020603050405020304" pitchFamily="18" charset="0"/>
              </a:rPr>
              <a:t>β3</a:t>
            </a:r>
            <a:r>
              <a:rPr lang="en-US" sz="2000" kern="1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Century Schoolbook" panose="02040604050505020304" pitchFamily="18" charset="0"/>
                <a:cs typeface="Times New Roman" panose="02020603050405020304" pitchFamily="18" charset="0"/>
              </a:rPr>
              <a:t>​(</a:t>
            </a:r>
            <a:r>
              <a:rPr lang="en-US" sz="2000" kern="100" dirty="0" err="1" smtClean="0">
                <a:solidFill>
                  <a:schemeClr val="accent1"/>
                </a:solidFill>
                <a:latin typeface="Century Schoolbook" panose="02040604050505020304" pitchFamily="18" charset="0"/>
                <a:ea typeface="Century Schoolbook" panose="02040604050505020304" pitchFamily="18" charset="0"/>
                <a:cs typeface="Times New Roman" panose="02020603050405020304" pitchFamily="18" charset="0"/>
              </a:rPr>
              <a:t>Unemploymentt</a:t>
            </a:r>
            <a:r>
              <a:rPr lang="en-US" sz="2000" kern="100" dirty="0" smtClean="0">
                <a:solidFill>
                  <a:schemeClr val="accent1"/>
                </a:solidFill>
                <a:latin typeface="Century Schoolbook" panose="02040604050505020304" pitchFamily="18" charset="0"/>
                <a:ea typeface="Century Schoolbook" panose="020406040505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kern="1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Century Schoolbook" panose="02040604050505020304" pitchFamily="18" charset="0"/>
                <a:cs typeface="Times New Roman" panose="02020603050405020304" pitchFamily="18" charset="0"/>
              </a:rPr>
              <a:t>​</a:t>
            </a:r>
            <a:r>
              <a:rPr lang="en-US" sz="2000" kern="100" dirty="0">
                <a:solidFill>
                  <a:schemeClr val="accent1"/>
                </a:solidFill>
                <a:latin typeface="Century Schoolbook" panose="02040604050505020304" pitchFamily="18" charset="0"/>
                <a:ea typeface="Century Schoolbook" panose="02040604050505020304" pitchFamily="18" charset="0"/>
                <a:cs typeface="Times New Roman" panose="02020603050405020304" pitchFamily="18" charset="0"/>
              </a:rPr>
              <a:t>+</a:t>
            </a:r>
            <a:r>
              <a:rPr lang="en-US" sz="2000" kern="100" dirty="0" err="1">
                <a:solidFill>
                  <a:schemeClr val="accent1"/>
                </a:solidFill>
                <a:latin typeface="Century Schoolbook" panose="02040604050505020304" pitchFamily="18" charset="0"/>
                <a:ea typeface="Century Schoolbook" panose="02040604050505020304" pitchFamily="18" charset="0"/>
                <a:cs typeface="Times New Roman" panose="02020603050405020304" pitchFamily="18" charset="0"/>
              </a:rPr>
              <a:t>εt</a:t>
            </a:r>
            <a:endParaRPr lang="en-US" sz="2000" kern="100" dirty="0">
              <a:solidFill>
                <a:schemeClr val="accent1"/>
              </a:solidFill>
              <a:latin typeface="Century Schoolbook" panose="02040604050505020304" pitchFamily="18" charset="0"/>
              <a:ea typeface="Century Schoolbook" panose="020406040505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err="1" smtClean="0">
                <a:solidFill>
                  <a:schemeClr val="accent1"/>
                </a:solidFill>
              </a:rPr>
              <a:t>Gdp_grwth</a:t>
            </a:r>
            <a:r>
              <a:rPr lang="en-US" sz="2000" dirty="0" smtClean="0">
                <a:solidFill>
                  <a:schemeClr val="accent1"/>
                </a:solidFill>
              </a:rPr>
              <a:t>(t)= </a:t>
            </a:r>
            <a:r>
              <a:rPr lang="en-US" sz="2000" dirty="0">
                <a:solidFill>
                  <a:schemeClr val="accent1"/>
                </a:solidFill>
              </a:rPr>
              <a:t>Annual GDP growth rate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accent1"/>
                </a:solidFill>
              </a:rPr>
              <a:t>Ln(</a:t>
            </a:r>
            <a:r>
              <a:rPr lang="en-US" sz="2000" dirty="0" err="1" smtClean="0">
                <a:solidFill>
                  <a:schemeClr val="accent1"/>
                </a:solidFill>
              </a:rPr>
              <a:t>Electricityt</a:t>
            </a:r>
            <a:r>
              <a:rPr lang="en-US" sz="2000" dirty="0">
                <a:solidFill>
                  <a:schemeClr val="accent1"/>
                </a:solidFill>
              </a:rPr>
              <a:t>) = log of electricity consumption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accent1"/>
                </a:solidFill>
              </a:rPr>
              <a:t>Inflation </a:t>
            </a:r>
            <a:r>
              <a:rPr lang="en-US" sz="2000" dirty="0">
                <a:solidFill>
                  <a:schemeClr val="accent1"/>
                </a:solidFill>
              </a:rPr>
              <a:t>= log of electricity consumption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accent1"/>
                </a:solidFill>
              </a:rPr>
              <a:t>Unemployment </a:t>
            </a:r>
            <a:r>
              <a:rPr lang="en-US" sz="2000" dirty="0">
                <a:solidFill>
                  <a:schemeClr val="accent1"/>
                </a:solidFill>
              </a:rPr>
              <a:t>= unemployment rate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err="1" smtClean="0">
                <a:solidFill>
                  <a:schemeClr val="accent1"/>
                </a:solidFill>
              </a:rPr>
              <a:t>εt</a:t>
            </a:r>
            <a:r>
              <a:rPr lang="en-US" sz="2000" dirty="0" smtClean="0">
                <a:solidFill>
                  <a:schemeClr val="accent1"/>
                </a:solidFill>
              </a:rPr>
              <a:t>  </a:t>
            </a:r>
            <a:r>
              <a:rPr lang="en-US" sz="2000" dirty="0">
                <a:solidFill>
                  <a:schemeClr val="accent1"/>
                </a:solidFill>
              </a:rPr>
              <a:t>= Random error term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accent1"/>
                </a:solidFill>
              </a:rPr>
              <a:t>t </a:t>
            </a:r>
            <a:r>
              <a:rPr lang="en-US" sz="2000" dirty="0">
                <a:solidFill>
                  <a:schemeClr val="accent1"/>
                </a:solidFill>
              </a:rPr>
              <a:t>= in years 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88713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egression Equation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407516"/>
              </p:ext>
            </p:extLst>
          </p:nvPr>
        </p:nvGraphicFramePr>
        <p:xfrm>
          <a:off x="3424843" y="1930400"/>
          <a:ext cx="3749039" cy="4164676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2280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515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100" kern="100" dirty="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(1)</a:t>
                      </a:r>
                      <a:endParaRPr lang="en-US" sz="11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20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VARIABLES</a:t>
                      </a:r>
                      <a:endParaRPr lang="en-US" sz="11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GDP-Grwth</a:t>
                      </a:r>
                      <a:endParaRPr lang="en-US" sz="11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15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1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1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20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Ln-electricity</a:t>
                      </a:r>
                      <a:endParaRPr lang="en-US" sz="11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0.0407</a:t>
                      </a:r>
                      <a:endParaRPr lang="en-US" sz="11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20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1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(0.389)</a:t>
                      </a:r>
                      <a:endParaRPr lang="en-US" sz="11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15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inflation</a:t>
                      </a:r>
                      <a:endParaRPr lang="en-US" sz="11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-0.181</a:t>
                      </a:r>
                      <a:endParaRPr lang="en-US" sz="11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20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100" kern="100" dirty="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(0.295)</a:t>
                      </a:r>
                      <a:endParaRPr lang="en-US" sz="11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20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unemployment</a:t>
                      </a:r>
                      <a:endParaRPr lang="en-US" sz="11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0.00459</a:t>
                      </a:r>
                      <a:endParaRPr lang="en-US" sz="11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20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1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(0.185)</a:t>
                      </a:r>
                      <a:endParaRPr lang="en-US" sz="11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515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Constant</a:t>
                      </a:r>
                      <a:endParaRPr lang="en-US" sz="11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2.945</a:t>
                      </a:r>
                      <a:endParaRPr lang="en-US" sz="11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20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1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(3.018)</a:t>
                      </a:r>
                      <a:endParaRPr lang="en-US" sz="11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20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1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1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515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Observations</a:t>
                      </a:r>
                      <a:endParaRPr lang="en-US" sz="11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50</a:t>
                      </a:r>
                      <a:endParaRPr lang="en-US" sz="11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20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R-squared</a:t>
                      </a:r>
                      <a:endParaRPr lang="en-US" sz="11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0.006</a:t>
                      </a:r>
                      <a:endParaRPr lang="en-US" sz="1100" kern="100" dirty="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2721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and methodology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Data: Annual time-series data for Pakistan (GDP growth, electricity consumption, inflation, unemployment).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Stationarity: ADF unit root tests; non-stationary variables converted to first differences.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Analysis: Identify relationships and check multicollinearity.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 Model: OLS model estimating impact of electricity consumption on GDP growth.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Diagnostics: Tests for </a:t>
            </a:r>
            <a:r>
              <a:rPr lang="en-US" sz="20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heteroskedasticity</a:t>
            </a:r>
            <a:r>
              <a:rPr lang="en-US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residual normality, and multicollinearity</a:t>
            </a:r>
            <a:endParaRPr lang="en-US" sz="2000" dirty="0" smtClean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712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861" y="489284"/>
            <a:ext cx="8596668" cy="13208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Statistics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77862" y="1557762"/>
            <a:ext cx="8125316" cy="41639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14747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406" y="2111434"/>
            <a:ext cx="8887572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284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932" y="1930400"/>
            <a:ext cx="4486900" cy="29225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070" y="1930400"/>
            <a:ext cx="4293170" cy="29225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50283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266" y="514709"/>
            <a:ext cx="8596668" cy="1320800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Interpretations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395702"/>
              </p:ext>
            </p:extLst>
          </p:nvPr>
        </p:nvGraphicFramePr>
        <p:xfrm>
          <a:off x="2774623" y="1406834"/>
          <a:ext cx="4402089" cy="4797613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06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56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61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89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73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17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(1)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(2)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(3)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(4)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(5)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4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VARIABLES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OLS baseline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OLS Robust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Newey-West (lag2)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Prais-Winsten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First-difference </a:t>
                      </a:r>
                      <a:endParaRPr lang="en-US" sz="900" kern="1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(robust)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7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7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ln_electricity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-0.3653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-0.3653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-0.3653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0.4083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7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(0.5247)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(0.4732)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(0.5122)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(0.4099)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18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inflation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-0.6920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-0.6920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effectLst/>
                        </a:rPr>
                        <a:t>-0.6920*</a:t>
                      </a:r>
                      <a:endParaRPr lang="en-US" sz="900" kern="100" dirty="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-0.9040**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7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(0.4611)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(0.4382)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(0.3759)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(0.3737)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7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unemployment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-0.0544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-0.0544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-0.0544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-0.0680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7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(0.2433)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(0.2062)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(0.1703)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(0.2035)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7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D_ln_elec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0.6596**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7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(0.3139)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7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D.inflation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-1.0677***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7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(0.3729)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34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D.unemployment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-0.0106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17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(0.1722)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17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Constant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7.1566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7.1566*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7.1566*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2.0277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-0.0733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17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(4.2049)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(3.6588)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(3.8413)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(3.2390)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(0.1520)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17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17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Observations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25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25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25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24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24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17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R-squared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0.136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0.136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0.260</a:t>
                      </a:r>
                      <a:endParaRPr lang="en-US" sz="900" kern="10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effectLst/>
                        </a:rPr>
                        <a:t>0.328</a:t>
                      </a:r>
                      <a:endParaRPr lang="en-US" sz="900" kern="100" dirty="0">
                        <a:effectLst/>
                        <a:latin typeface="Century Schoolbook" panose="02040604050505020304" pitchFamily="18" charset="0"/>
                        <a:ea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56" marR="39356" marT="0" marB="0">
                    <a:lnL w="12700" cap="rnd" cmpd="sng" algn="ctr">
                      <a:noFill/>
                      <a:prstDash val="solid"/>
                    </a:lnL>
                    <a:lnR w="12700" cap="rnd" cmpd="sng" algn="ctr">
                      <a:noFill/>
                      <a:prstDash val="solid"/>
                    </a:lnR>
                    <a:lnT w="12700" cap="rnd" cmpd="sng" algn="ctr">
                      <a:noFill/>
                      <a:prstDash val="solid"/>
                    </a:lnT>
                    <a:lnB w="12700" cap="rnd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-1016816" y="6140661"/>
            <a:ext cx="12192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Century Schoolbook" panose="020406040505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Standard errors in parentheses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Century Schoolbook" panose="020406040505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*** p&lt;0.01, ** p&lt;0.05, * p&lt;0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Century Schoolbook" panose="020406040505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Century Schoolbook" panose="020406040505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07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025" y="927307"/>
            <a:ext cx="7992840" cy="494979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chemeClr val="accent1"/>
                </a:solidFill>
              </a:rPr>
              <a:t>1. </a:t>
            </a:r>
            <a:r>
              <a:rPr lang="en-US" sz="17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Inflation becomes significant in every corrected model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OLS</a:t>
            </a:r>
            <a:r>
              <a:rPr lang="en-US" sz="19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insignificant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Newey-West</a:t>
            </a:r>
            <a:r>
              <a:rPr lang="en-US" sz="19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significant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 err="1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Prais-Winsten</a:t>
            </a:r>
            <a:r>
              <a:rPr lang="en-US" sz="19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significant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First-difference</a:t>
            </a:r>
            <a:r>
              <a:rPr lang="en-US" sz="19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strongly significant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variable of interest strengthens, both economically and statistically.</a:t>
            </a:r>
          </a:p>
          <a:p>
            <a:pPr marL="0" indent="0">
              <a:buNone/>
            </a:pPr>
            <a:r>
              <a:rPr lang="en-US" sz="19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9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9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effect of inflation becomes stronger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–0.69 → –0.90 → –1.07.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Suggests OLS understated the true effect due to serial correlation or </a:t>
            </a:r>
            <a:r>
              <a:rPr lang="en-US" sz="19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nonstationarity</a:t>
            </a:r>
            <a:r>
              <a:rPr lang="en-US" sz="19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Model fit improves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R² rises from 0.136 → 0.260 → 0.328.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Implies your corrected models explain substantially more variation.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No major changes for </a:t>
            </a:r>
            <a:r>
              <a:rPr lang="en-US" sz="19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ln_electricity</a:t>
            </a:r>
            <a:r>
              <a:rPr lang="en-US" sz="19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unemployment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remain insignificant and inconsistent.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270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Policy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mplications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018" y="1337630"/>
            <a:ext cx="8425102" cy="484704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Moderate</a:t>
            </a:r>
            <a:r>
              <a:rPr 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GDP growth, stable inflation, rising unemployment.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Electricity</a:t>
            </a:r>
            <a:r>
              <a:rPr 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consumption upward trend, but regression shows weak statistical link to GDP.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suggests omitted variables may play a larger role.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Policy Implications: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 in Electricity Infrastructure — expand generation, improve grid reliability, rural electrification.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Energy Policy with Growth Strategy — align with industrial and digital development.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  <a:r>
              <a:rPr 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Inflation &amp; Labor Market — maintain stability, address structural unemployment</a:t>
            </a:r>
            <a:r>
              <a:rPr 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</a:t>
            </a:r>
            <a:r>
              <a:rPr 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Model Specification — include capital formation, trade openness, energy prices.</a:t>
            </a:r>
          </a:p>
        </p:txBody>
      </p:sp>
    </p:spTree>
    <p:extLst>
      <p:ext uri="{BB962C8B-B14F-4D97-AF65-F5344CB8AC3E}">
        <p14:creationId xmlns:p14="http://schemas.microsoft.com/office/powerpoint/2010/main" val="204900445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109</TotalTime>
  <Words>679</Words>
  <Application>Microsoft Office PowerPoint</Application>
  <PresentationFormat>Widescreen</PresentationFormat>
  <Paragraphs>209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Century Schoolbook</vt:lpstr>
      <vt:lpstr>Times New Roman</vt:lpstr>
      <vt:lpstr>Trebuchet MS</vt:lpstr>
      <vt:lpstr>Wingdings</vt:lpstr>
      <vt:lpstr>Wingdings 3</vt:lpstr>
      <vt:lpstr>Facet</vt:lpstr>
      <vt:lpstr> How Electricity Fuels Pakistan’s Economic Growth: A Time Series Analysis</vt:lpstr>
      <vt:lpstr>Introduction</vt:lpstr>
      <vt:lpstr>Research question and hypothesis</vt:lpstr>
      <vt:lpstr>Variables and conceptual framework</vt:lpstr>
      <vt:lpstr>Original Regression Equation</vt:lpstr>
      <vt:lpstr>Data and methodology</vt:lpstr>
      <vt:lpstr>Descriptive Statistics </vt:lpstr>
      <vt:lpstr>Correlation Analysis </vt:lpstr>
      <vt:lpstr>Diagnostic Tests </vt:lpstr>
      <vt:lpstr>Results and Interpretations</vt:lpstr>
      <vt:lpstr>PowerPoint Presentation</vt:lpstr>
      <vt:lpstr>Conclusion and Policy Implications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Powering Prosperity: How Electricity Fuels Pakistan’s Economic Growth</dc:title>
  <dc:creator>Ayesha Ashraf</dc:creator>
  <cp:lastModifiedBy>Ayesha Ashraf</cp:lastModifiedBy>
  <cp:revision>13</cp:revision>
  <dcterms:created xsi:type="dcterms:W3CDTF">2025-11-27T12:13:58Z</dcterms:created>
  <dcterms:modified xsi:type="dcterms:W3CDTF">2025-12-02T03:21:28Z</dcterms:modified>
</cp:coreProperties>
</file>